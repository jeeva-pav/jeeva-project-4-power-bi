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5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8F4288-5576-4653-A29F-27D4AE262B13}" v="44" dt="2026-10-04T11:15:51.9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endan Ganesan" userId="06b424f90aed5c07" providerId="LiveId" clId="{337AEE77-A64D-4E1C-9841-EAF0F784D103}"/>
    <pc:docChg chg="modSld">
      <pc:chgData name="Pavendan Ganesan" userId="06b424f90aed5c07" providerId="LiveId" clId="{337AEE77-A64D-4E1C-9841-EAF0F784D103}" dt="2026-10-04T11:36:58.295" v="0" actId="1036"/>
      <pc:docMkLst>
        <pc:docMk/>
      </pc:docMkLst>
      <pc:sldChg chg="modSp mod">
        <pc:chgData name="Pavendan Ganesan" userId="06b424f90aed5c07" providerId="LiveId" clId="{337AEE77-A64D-4E1C-9841-EAF0F784D103}" dt="2026-10-04T11:36:58.295" v="0" actId="1036"/>
        <pc:sldMkLst>
          <pc:docMk/>
          <pc:sldMk cId="1536741834" sldId="257"/>
        </pc:sldMkLst>
        <pc:picChg chg="mod">
          <ac:chgData name="Pavendan Ganesan" userId="06b424f90aed5c07" providerId="LiveId" clId="{337AEE77-A64D-4E1C-9841-EAF0F784D103}" dt="2026-10-04T11:36:58.295" v="0" actId="1036"/>
          <ac:picMkLst>
            <pc:docMk/>
            <pc:sldMk cId="1536741834" sldId="257"/>
            <ac:picMk id="5" creationId="{161AC740-6D79-68ED-0796-7D0A4996C1A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5B846-A381-45F3-8E5C-7EFE096C94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87EF6A-C4A6-7991-FFAE-6DAB309A46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8F5FC-A537-974C-E26C-B0E6E35EC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0F634-A421-44AD-B9F8-CAE1BB59AD75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DA72C-20D2-6C4C-ABE2-EF0520639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47DD7-601E-E7FB-B61E-4C09792F4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37646-30B6-4457-99E8-37A1AEFA49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902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7BCFC-B113-16D8-57CD-7ECA753BE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5018B-8BD4-5785-DAFE-52EF1E457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9F4EC-06F5-C9D4-5B3B-946A65DC8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0F634-A421-44AD-B9F8-CAE1BB59AD75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B2BDD-1B90-83B3-D974-620AFE3A0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F36AD-AE2D-FB20-D1A9-06CD2F527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37646-30B6-4457-99E8-37A1AEFA49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644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35FD4-216A-89C2-BD9D-3786C12E9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3BE360-E79E-8F42-9B07-8ABABB428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338F0-83E4-0A2A-2787-56CFD9EE5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0F634-A421-44AD-B9F8-CAE1BB59AD75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26C11-DC10-F059-ACB7-31C334E3D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8F55D-69C9-6348-4101-FE30F8F98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37646-30B6-4457-99E8-37A1AEFA49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582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1AFF0-8E7B-316A-D018-BEBCA9C5E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E272C-E403-9269-4E7C-597F2A6057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EE3E6C-F66D-CE98-E3C4-B03D08C91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5027D5-721B-A684-07ED-6058BED0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0F634-A421-44AD-B9F8-CAE1BB59AD75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15495-D3A0-D9A9-5B16-C08CC5F97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131160-9547-84CF-B343-DB6B03C32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37646-30B6-4457-99E8-37A1AEFA49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950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F9792-783D-A983-DE7B-465087435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3AB9C-EE53-FCAD-AC68-6B4FD1678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D6C61-E3E1-ADCA-F013-D3E2BE3A2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8617CC-7324-039B-61A8-E9EA9A5070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695151-94F9-3C69-130E-4CD79C79C4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6B25D0-6DA3-4FE9-7FB5-0832A2EAA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0F634-A421-44AD-B9F8-CAE1BB59AD75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77D77E-5719-4817-FAB1-BA281538F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50B756-2F47-F0BA-E523-973001B11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37646-30B6-4457-99E8-37A1AEFA49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94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3E861-B4B0-9F4E-0003-9D90FD9F5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AA03DE-4DB1-F5CE-35EF-434EF52EA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0F634-A421-44AD-B9F8-CAE1BB59AD75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E67702-A064-A362-1691-5180D467A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CA37D4-775C-F359-88A3-2F54D6FD8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37646-30B6-4457-99E8-37A1AEFA49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234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B5F0A4-D66E-836D-96B1-3D5241142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0F634-A421-44AD-B9F8-CAE1BB59AD75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2C6DC4-E7C0-2055-C2ED-653254A99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39C94-9784-08DB-754A-5CD8D7102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37646-30B6-4457-99E8-37A1AEFA49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9503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2DB27-760A-36C0-8EAB-C181C6442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6AC2F-8B06-50EC-5EE3-1A2981C23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DDBF58-A085-18F3-BC42-C91579565E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32DFF0-CBB3-A764-1B4D-34641DCA0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0F634-A421-44AD-B9F8-CAE1BB59AD75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F3680-4EDE-EA59-111C-FFC56195E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C7096D-64C2-AA44-7926-4ED23503A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37646-30B6-4457-99E8-37A1AEFA49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367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0F03E-8BA7-BD2A-1B20-8A1BB3D0B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D615F9-55D9-1A66-6695-F397A5A4BD8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201162-CD68-6506-042A-964BCE8C76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9FD61F-37BE-29BC-538B-FEBEB6D4A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0F634-A421-44AD-B9F8-CAE1BB59AD75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7FB0C2-7637-A817-F253-92822C49B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062521-83C0-5396-58E0-F96D1DC2F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37646-30B6-4457-99E8-37A1AEFA49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367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199D2-44DE-9D67-5B6E-CA46EE593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9B733B-C59E-B62B-572B-7CE96143E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252D3-7F03-6C14-04D9-76F812402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0F634-A421-44AD-B9F8-CAE1BB59AD75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1A299-F854-B771-CAE9-7DEF749D7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1DF40-69DE-511F-2218-3D1211B02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37646-30B6-4457-99E8-37A1AEFA49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233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998E57-8B85-872B-5046-733FBF9B41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39EF74-25D8-182F-5C4C-749A7A7CDF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7B3FC-B851-8D15-AE30-C7E8F560D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0F634-A421-44AD-B9F8-CAE1BB59AD75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D9EF3-8B04-4705-08AC-D31F9EB2E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1B89E-0C88-C618-E426-7BF27C98D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37646-30B6-4457-99E8-37A1AEFA49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635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8DD23B-A926-68BB-3F61-BC6B2EA59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A1896A-48B9-F4B1-E94D-7E382EE26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B6DA8-9016-3267-4378-198386098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E0F634-A421-44AD-B9F8-CAE1BB59AD75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C45EB-95EC-6CED-68C5-1C7A6E4CF9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79394-39B1-AF36-25EB-BAB4C48E6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337646-30B6-4457-99E8-37A1AEFA49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023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10FEF04-9FA2-4DD8-EC29-60D92C722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71844" y="-4329"/>
            <a:ext cx="7020159" cy="6869586"/>
            <a:chOff x="5171844" y="-11586"/>
            <a:chExt cx="7020159" cy="686958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B4A5D8B-34EC-D352-BE87-4809E4CE4F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71848" y="-11580"/>
              <a:ext cx="7020152" cy="686957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411AD96-CCBD-9812-0D19-0E7C7A79E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351336" y="876304"/>
              <a:ext cx="5840664" cy="5981696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AF89D92-20DD-C8E9-DF7A-988B09642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71844" y="-11586"/>
              <a:ext cx="5171848" cy="6869586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alpha val="70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7F78F10-63E0-611E-AC78-66E24EA30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6042356" y="708353"/>
              <a:ext cx="6869583" cy="5429710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8FA3C28-8096-6DC1-EDC0-ED8F3B2E289D}"/>
              </a:ext>
            </a:extLst>
          </p:cNvPr>
          <p:cNvSpPr txBox="1"/>
          <p:nvPr/>
        </p:nvSpPr>
        <p:spPr>
          <a:xfrm>
            <a:off x="6188027" y="2325757"/>
            <a:ext cx="5480511" cy="1620078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i="0" u="none" strike="noStrike" dirty="0">
                <a:solidFill>
                  <a:schemeClr val="accent3">
                    <a:lumMod val="75000"/>
                  </a:schemeClr>
                </a:solidFill>
                <a:effectLst/>
                <a:latin typeface="+mj-lt"/>
                <a:ea typeface="+mj-ea"/>
                <a:cs typeface="+mj-cs"/>
              </a:rPr>
              <a:t>Zomato Order &amp; Restaurant Analysis Using Power BI</a:t>
            </a:r>
            <a:endParaRPr lang="en-US" sz="4000" dirty="0">
              <a:solidFill>
                <a:schemeClr val="accent3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Light bulb over people discussing">
            <a:extLst>
              <a:ext uri="{FF2B5EF4-FFF2-40B4-BE49-F238E27FC236}">
                <a16:creationId xmlns:a16="http://schemas.microsoft.com/office/drawing/2014/main" id="{161AC740-6D79-68ED-0796-7D0A4996C1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575" r="19143"/>
          <a:stretch>
            <a:fillRect/>
          </a:stretch>
        </p:blipFill>
        <p:spPr>
          <a:xfrm>
            <a:off x="20" y="1522"/>
            <a:ext cx="5171828" cy="6865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741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2DCB46-3033-317B-EB5D-610A4CCDC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58" y="676656"/>
            <a:ext cx="5426764" cy="19110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05EBE4-27B6-F420-FB57-8CDC72D95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4270249"/>
            <a:ext cx="5426764" cy="184164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DED975-D827-1D28-6048-442FF8AC95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026" y="608818"/>
            <a:ext cx="5426764" cy="19264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A866CC-B501-CD16-9227-25970C62B992}"/>
              </a:ext>
            </a:extLst>
          </p:cNvPr>
          <p:cNvSpPr txBox="1"/>
          <p:nvPr/>
        </p:nvSpPr>
        <p:spPr>
          <a:xfrm>
            <a:off x="6415378" y="3021967"/>
            <a:ext cx="539257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/>
              <a:t>Upload </a:t>
            </a:r>
            <a:r>
              <a:rPr lang="en-IN" b="1" dirty="0"/>
              <a:t>Dataset into MySQL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Created Zomato database.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Created Restaurants and Orders tables.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Imported CSV datasets into MySQL.</a:t>
            </a:r>
          </a:p>
          <a:p>
            <a:pPr>
              <a:buNone/>
            </a:pPr>
            <a:r>
              <a:rPr lang="en-IN" b="1" dirty="0"/>
              <a:t>SQL Data Transformation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Cleaned duplicates and NULL values.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Performed SQL analysis and aggregations.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Identified Top 5 cities and restaurants.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Joined Orders and Restaurants tables.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Exported transformed data to Excel.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4A6916-9C45-2812-DA87-C22448DF6236}"/>
              </a:ext>
            </a:extLst>
          </p:cNvPr>
          <p:cNvSpPr txBox="1"/>
          <p:nvPr/>
        </p:nvSpPr>
        <p:spPr>
          <a:xfrm>
            <a:off x="1752600" y="239486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321946-E2D2-DF03-A01D-472333EA8E3E}"/>
              </a:ext>
            </a:extLst>
          </p:cNvPr>
          <p:cNvSpPr txBox="1"/>
          <p:nvPr/>
        </p:nvSpPr>
        <p:spPr>
          <a:xfrm>
            <a:off x="457201" y="88739"/>
            <a:ext cx="3800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Task 1: Upload Dataset into MySQL</a:t>
            </a:r>
            <a:endParaRPr lang="en-IN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F79462-A6A0-8430-59E0-11E3FCFADB76}"/>
              </a:ext>
            </a:extLst>
          </p:cNvPr>
          <p:cNvSpPr txBox="1"/>
          <p:nvPr/>
        </p:nvSpPr>
        <p:spPr>
          <a:xfrm>
            <a:off x="6120364" y="122135"/>
            <a:ext cx="598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Task 2: Perform Simple Data Transformations Using SQL</a:t>
            </a:r>
            <a:endParaRPr lang="en-IN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4407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EBFA83-D4DB-4CA0-B229-9E44634D7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0DAC8FB-A162-44E3-A606-C855A03A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1BDEC81-16A7-4451-B893-C1500008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A515A1-4D80-430E-BE0A-71A290516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542" y="729175"/>
            <a:ext cx="11099352" cy="5399650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345DC9-B6C8-6A55-B3FF-9183D3E5DB16}"/>
              </a:ext>
            </a:extLst>
          </p:cNvPr>
          <p:cNvSpPr txBox="1"/>
          <p:nvPr/>
        </p:nvSpPr>
        <p:spPr>
          <a:xfrm>
            <a:off x="6597017" y="1380744"/>
            <a:ext cx="3964304" cy="10737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Task</a:t>
            </a:r>
            <a:r>
              <a:rPr lang="en-US" sz="3200" b="1" kern="1200" dirty="0">
                <a:solidFill>
                  <a:schemeClr val="accent3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1 : Number of Restaurants per City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EFB5EE-36B2-9CD6-A594-A6A22B3E9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07" y="1633736"/>
            <a:ext cx="5468347" cy="35817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F1A462-462D-0183-02D2-5F21C8D66517}"/>
              </a:ext>
            </a:extLst>
          </p:cNvPr>
          <p:cNvSpPr txBox="1"/>
          <p:nvPr/>
        </p:nvSpPr>
        <p:spPr>
          <a:xfrm>
            <a:off x="6597016" y="2965592"/>
            <a:ext cx="4589328" cy="2987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Created a bar chart showing restaurants by city.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Identified cities with the highest and lowest restaurant counts.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Compared restaurant availability across cities.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Business Insight:</a:t>
            </a:r>
            <a:r>
              <a:rPr lang="en-US" dirty="0"/>
              <a:t> Identified high-potential cities for restaurant expansion and business growth.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471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6B5E2835-4E47-45B3-9CFE-732FF7B05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BE50AD-C7EE-062E-6D40-DAC4CA1BB7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94" r="-1" b="12029"/>
          <a:stretch>
            <a:fillRect/>
          </a:stretch>
        </p:blipFill>
        <p:spPr>
          <a:xfrm>
            <a:off x="3242695" y="10"/>
            <a:ext cx="8949307" cy="6857990"/>
          </a:xfrm>
          <a:custGeom>
            <a:avLst/>
            <a:gdLst/>
            <a:ahLst/>
            <a:cxnLst/>
            <a:rect l="l" t="t" r="r" b="b"/>
            <a:pathLst>
              <a:path w="8949307" h="6858000">
                <a:moveTo>
                  <a:pt x="0" y="0"/>
                </a:moveTo>
                <a:lnTo>
                  <a:pt x="8949307" y="0"/>
                </a:lnTo>
                <a:lnTo>
                  <a:pt x="8949307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9" y="4741056"/>
                  <a:pt x="1212979" y="3429000"/>
                </a:cubicBezTo>
                <a:cubicBezTo>
                  <a:pt x="1212979" y="2116944"/>
                  <a:pt x="773509" y="929100"/>
                  <a:pt x="62983" y="69271"/>
                </a:cubicBezTo>
                <a:close/>
              </a:path>
            </a:pathLst>
          </a:custGeom>
        </p:spPr>
      </p:pic>
      <p:sp useBgFill="1">
        <p:nvSpPr>
          <p:cNvPr id="53" name="Freeform: Shape 52">
            <a:extLst>
              <a:ext uri="{FF2B5EF4-FFF2-40B4-BE49-F238E27FC236}">
                <a16:creationId xmlns:a16="http://schemas.microsoft.com/office/drawing/2014/main" id="{5B45AD5D-AA52-4F7B-9362-576A39AD9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D5D5D5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4" name="Freeform: Shape 53">
            <a:extLst>
              <a:ext uri="{FF2B5EF4-FFF2-40B4-BE49-F238E27FC236}">
                <a16:creationId xmlns:a16="http://schemas.microsoft.com/office/drawing/2014/main" id="{AEDD7960-4866-4399-BEF6-DD1431AB4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480ED8-5B40-1D7F-5705-4BCF3BF0B71F}"/>
              </a:ext>
            </a:extLst>
          </p:cNvPr>
          <p:cNvSpPr txBox="1"/>
          <p:nvPr/>
        </p:nvSpPr>
        <p:spPr>
          <a:xfrm>
            <a:off x="424815" y="1254380"/>
            <a:ext cx="3917877" cy="8514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dirty="0">
                <a:solidFill>
                  <a:schemeClr val="accent3"/>
                </a:solidFill>
                <a:latin typeface="+mj-lt"/>
                <a:ea typeface="+mj-ea"/>
                <a:cs typeface="+mj-cs"/>
              </a:rPr>
              <a:t>Task 2:Percentage of Orders from Different Cities</a:t>
            </a:r>
            <a:endParaRPr lang="en-US" sz="2400" dirty="0">
              <a:solidFill>
                <a:schemeClr val="accent3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375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3FE539-8C42-F93D-E851-5F65A83AED1D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Visualized order percentages by city using a pie chart.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Identified cities with the highest and lowest order shares.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Business Insight:</a:t>
            </a:r>
            <a:r>
              <a:rPr lang="en-US" sz="1700"/>
              <a:t> Focused on high-demand cities for targeted marketing.</a:t>
            </a:r>
          </a:p>
        </p:txBody>
      </p:sp>
    </p:spTree>
    <p:extLst>
      <p:ext uri="{BB962C8B-B14F-4D97-AF65-F5344CB8AC3E}">
        <p14:creationId xmlns:p14="http://schemas.microsoft.com/office/powerpoint/2010/main" val="1869803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C0E6D9-13A2-C914-756A-70B281D989A3}"/>
              </a:ext>
            </a:extLst>
          </p:cNvPr>
          <p:cNvSpPr txBox="1"/>
          <p:nvPr/>
        </p:nvSpPr>
        <p:spPr>
          <a:xfrm>
            <a:off x="371094" y="1161288"/>
            <a:ext cx="3438144" cy="12390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rPr>
              <a:t>Task 3: Order Amount Trends Over Time</a:t>
            </a:r>
            <a:endParaRPr lang="en-US" sz="2800" kern="1200" dirty="0">
              <a:solidFill>
                <a:schemeClr val="accent3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846AB2-123E-0A9C-46BF-85F3336F4F37}"/>
              </a:ext>
            </a:extLst>
          </p:cNvPr>
          <p:cNvSpPr txBox="1"/>
          <p:nvPr/>
        </p:nvSpPr>
        <p:spPr>
          <a:xfrm>
            <a:off x="128016" y="2718054"/>
            <a:ext cx="4455673" cy="2031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Created a line chart showing order amounts over time.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Identified peak and low sales periods.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Business Insight:</a:t>
            </a:r>
            <a:r>
              <a:rPr lang="en-US" sz="1700" dirty="0"/>
              <a:t> Identified high-demand periods for better sales planning.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997195-45B1-0F9E-E77E-F191B03AF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437300"/>
            <a:ext cx="6922008" cy="408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46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F2E23C-3E4C-F7EB-44C2-4A567EE2A2FB}"/>
              </a:ext>
            </a:extLst>
          </p:cNvPr>
          <p:cNvSpPr txBox="1"/>
          <p:nvPr/>
        </p:nvSpPr>
        <p:spPr>
          <a:xfrm>
            <a:off x="203200" y="1016000"/>
            <a:ext cx="4451096" cy="12009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rPr>
              <a:t>Task 4: Correlation of Factors Affecting Average Rating</a:t>
            </a:r>
            <a:endParaRPr lang="en-US" sz="3000" kern="1200" dirty="0">
              <a:solidFill>
                <a:schemeClr val="accent3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F11632-C85D-D82D-350F-E50E4EC07F1F}"/>
              </a:ext>
            </a:extLst>
          </p:cNvPr>
          <p:cNvSpPr txBox="1"/>
          <p:nvPr/>
        </p:nvSpPr>
        <p:spPr>
          <a:xfrm>
            <a:off x="203199" y="2807208"/>
            <a:ext cx="4451096" cy="23564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Created a scatter plot to compare delivery time and ratings.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Observed no clear relationship between delivery time and ratings.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Business Insight:</a:t>
            </a:r>
            <a:r>
              <a:rPr lang="en-US" dirty="0"/>
              <a:t> Ratings are influenced by factors beyond delivery time.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D86C32-F068-E9FD-8E58-6F5B6C6F0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150773"/>
            <a:ext cx="6903720" cy="4556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861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B90B66-2CDE-B212-1055-45D53D879436}"/>
              </a:ext>
            </a:extLst>
          </p:cNvPr>
          <p:cNvSpPr txBox="1"/>
          <p:nvPr/>
        </p:nvSpPr>
        <p:spPr>
          <a:xfrm>
            <a:off x="5996562" y="681037"/>
            <a:ext cx="4477474" cy="109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rPr>
              <a:t>Task 5: Top 5 Restaurants by Total Sales</a:t>
            </a:r>
            <a:endParaRPr lang="en-US" sz="2800" kern="1200" dirty="0">
              <a:solidFill>
                <a:schemeClr val="accent3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6A26D5-51DE-B697-28E3-3FE3F4F34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2030348"/>
            <a:ext cx="4777381" cy="2627559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E42D4C-F19C-DF11-7758-71AAEB0986F3}"/>
              </a:ext>
            </a:extLst>
          </p:cNvPr>
          <p:cNvSpPr txBox="1"/>
          <p:nvPr/>
        </p:nvSpPr>
        <p:spPr>
          <a:xfrm>
            <a:off x="5996562" y="2272961"/>
            <a:ext cx="5458838" cy="18486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Created a column chart showing the top 5 restaurants by sales.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Identified the highest-revenue restaurants.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Business Insight:</a:t>
            </a:r>
            <a:r>
              <a:rPr lang="en-US" dirty="0"/>
              <a:t> Identified top-performing restaurants for growth strategies.</a:t>
            </a:r>
          </a:p>
        </p:txBody>
      </p:sp>
    </p:spTree>
    <p:extLst>
      <p:ext uri="{BB962C8B-B14F-4D97-AF65-F5344CB8AC3E}">
        <p14:creationId xmlns:p14="http://schemas.microsoft.com/office/powerpoint/2010/main" val="4179598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FE1800-D74B-F46A-CEDB-71D0771C7C5B}"/>
              </a:ext>
            </a:extLst>
          </p:cNvPr>
          <p:cNvSpPr txBox="1"/>
          <p:nvPr/>
        </p:nvSpPr>
        <p:spPr>
          <a:xfrm>
            <a:off x="6739128" y="792235"/>
            <a:ext cx="4818888" cy="10804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rPr>
              <a:t>Task 6: Revenue by Area Using a Tree Map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A05C57-E9B6-169E-5E5E-C4B45A202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886842"/>
            <a:ext cx="5458968" cy="3084316"/>
          </a:xfrm>
          <a:prstGeom prst="rect">
            <a:avLst/>
          </a:prstGeom>
        </p:spPr>
      </p:pic>
      <p:sp>
        <p:nvSpPr>
          <p:cNvPr id="22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019CE9-5C2D-E8D9-563E-51962C6D3AD9}"/>
              </a:ext>
            </a:extLst>
          </p:cNvPr>
          <p:cNvSpPr txBox="1"/>
          <p:nvPr/>
        </p:nvSpPr>
        <p:spPr>
          <a:xfrm>
            <a:off x="6739128" y="2664887"/>
            <a:ext cx="4818888" cy="1703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Created a tree map showing revenue by area.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Identified high- and low-revenue areas.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Business Insight:</a:t>
            </a:r>
            <a:r>
              <a:rPr lang="en-US" dirty="0"/>
              <a:t> Helps focus marketing and expansion on high-revenue areas.</a:t>
            </a:r>
          </a:p>
        </p:txBody>
      </p:sp>
    </p:spTree>
    <p:extLst>
      <p:ext uri="{BB962C8B-B14F-4D97-AF65-F5344CB8AC3E}">
        <p14:creationId xmlns:p14="http://schemas.microsoft.com/office/powerpoint/2010/main" val="745742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3756B343-807D-456E-AA26-80E96B75D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BF6E7-5988-F83C-D19D-D1A9F252868E}"/>
              </a:ext>
            </a:extLst>
          </p:cNvPr>
          <p:cNvSpPr txBox="1"/>
          <p:nvPr/>
        </p:nvSpPr>
        <p:spPr>
          <a:xfrm>
            <a:off x="7239014" y="525982"/>
            <a:ext cx="4282983" cy="12003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b="1" dirty="0">
                <a:solidFill>
                  <a:schemeClr val="accent3"/>
                </a:solidFill>
                <a:latin typeface="+mj-lt"/>
                <a:ea typeface="+mj-ea"/>
                <a:cs typeface="+mj-cs"/>
              </a:rPr>
              <a:t>Task 7: Order Density by City Using a Heat Map</a:t>
            </a:r>
            <a:endParaRPr lang="en-US" sz="3100" dirty="0">
              <a:solidFill>
                <a:schemeClr val="accent3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B1610C-3B5E-45AD-36BD-7B24B75449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3" b="18"/>
          <a:stretch>
            <a:fillRect/>
          </a:stretch>
        </p:blipFill>
        <p:spPr>
          <a:xfrm>
            <a:off x="576244" y="650494"/>
            <a:ext cx="5628018" cy="5324142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4074AF-CE10-74C5-C2F8-8CA1B2C850F4}"/>
              </a:ext>
            </a:extLst>
          </p:cNvPr>
          <p:cNvSpPr txBox="1"/>
          <p:nvPr/>
        </p:nvSpPr>
        <p:spPr>
          <a:xfrm>
            <a:off x="6805441" y="2031102"/>
            <a:ext cx="4810315" cy="25508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Created a heat map showing order density by city.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Identified cities with the highest and lowest order volumes.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Business Insight:</a:t>
            </a:r>
            <a:r>
              <a:rPr lang="en-US" dirty="0"/>
              <a:t> Helps focus delivery and marketing efforts on high-demand cities.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584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567E7E-E7EE-9A10-4B7A-0DA30092A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74" y="1727785"/>
            <a:ext cx="4197626" cy="12316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BAD8C4-AAE3-7311-5F7A-3E05021EA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94" y="3081615"/>
            <a:ext cx="3906705" cy="3030949"/>
          </a:xfrm>
          <a:prstGeom prst="rect">
            <a:avLst/>
          </a:prstGeom>
        </p:spPr>
      </p:pic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6029" y="623275"/>
            <a:ext cx="6570797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C13775-5CA1-16A0-6D78-70E5DA683B96}"/>
              </a:ext>
            </a:extLst>
          </p:cNvPr>
          <p:cNvSpPr txBox="1"/>
          <p:nvPr/>
        </p:nvSpPr>
        <p:spPr>
          <a:xfrm>
            <a:off x="5465659" y="1188637"/>
            <a:ext cx="5642312" cy="1067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b="1" dirty="0">
                <a:solidFill>
                  <a:schemeClr val="accent3"/>
                </a:solidFill>
                <a:latin typeface="+mj-lt"/>
                <a:ea typeface="+mj-ea"/>
                <a:cs typeface="+mj-cs"/>
              </a:rPr>
              <a:t>Task 8: KPI Cards – Total Revenue &amp; Average Order Value</a:t>
            </a:r>
            <a:endParaRPr lang="en-US" sz="3400" dirty="0">
              <a:solidFill>
                <a:schemeClr val="accent3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38A080-DFED-FE0E-11DA-6BC8A681D70B}"/>
              </a:ext>
            </a:extLst>
          </p:cNvPr>
          <p:cNvSpPr txBox="1"/>
          <p:nvPr/>
        </p:nvSpPr>
        <p:spPr>
          <a:xfrm>
            <a:off x="5465659" y="2998278"/>
            <a:ext cx="5994157" cy="2728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Created KPI cards for Total Revenue and Average Order Value.</a:t>
            </a:r>
          </a:p>
          <a:p>
            <a:pPr marL="2857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Displayed key business performance metrics clearly.</a:t>
            </a:r>
          </a:p>
          <a:p>
            <a:pPr marL="2857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Business Insight</a:t>
            </a:r>
            <a:r>
              <a:rPr lang="en-US" dirty="0"/>
              <a:t>: Helps monitor revenue and average customer spending.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853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4E3737-DEFC-3DB1-39F8-395DC5CAABE6}"/>
              </a:ext>
            </a:extLst>
          </p:cNvPr>
          <p:cNvSpPr txBox="1"/>
          <p:nvPr/>
        </p:nvSpPr>
        <p:spPr>
          <a:xfrm>
            <a:off x="6210319" y="805387"/>
            <a:ext cx="4799248" cy="10351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rPr>
              <a:t> Task 9: Restaurant-Wise Sales Summary in a Table</a:t>
            </a:r>
            <a:endParaRPr lang="en-US" sz="3200" kern="1200" dirty="0">
              <a:solidFill>
                <a:schemeClr val="accent3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838F43-C386-4FB6-DE89-D3DDFF17C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19" y="299509"/>
            <a:ext cx="4716072" cy="62589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E4DFC5-A086-0229-9FE1-EF90963CF924}"/>
              </a:ext>
            </a:extLst>
          </p:cNvPr>
          <p:cNvSpPr txBox="1"/>
          <p:nvPr/>
        </p:nvSpPr>
        <p:spPr>
          <a:xfrm>
            <a:off x="6392583" y="2645922"/>
            <a:ext cx="4799247" cy="2005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Created a table showing restaurant-wise sales performance.</a:t>
            </a:r>
          </a:p>
          <a:p>
            <a:pPr marL="2857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Sorted restaurants by sales in descending order.</a:t>
            </a:r>
          </a:p>
          <a:p>
            <a:pPr marL="2857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alpha val="80000"/>
                  </a:schemeClr>
                </a:solidFill>
              </a:rPr>
              <a:t>Business Insight: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 Helps identify top- and low-performing restaurants.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0684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04F513C-B63D-17EC-A510-4B73DE614664}"/>
              </a:ext>
            </a:extLst>
          </p:cNvPr>
          <p:cNvSpPr txBox="1"/>
          <p:nvPr/>
        </p:nvSpPr>
        <p:spPr>
          <a:xfrm>
            <a:off x="368139" y="705679"/>
            <a:ext cx="4690878" cy="10937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rPr>
              <a:t>Task 10: Power BI Dashboard – Combining All Visuals</a:t>
            </a:r>
            <a:endParaRPr lang="en-US" sz="2700" kern="1200" dirty="0">
              <a:solidFill>
                <a:schemeClr val="accent3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CE7045-60CB-1D1F-86CC-2D8FDEECA470}"/>
              </a:ext>
            </a:extLst>
          </p:cNvPr>
          <p:cNvSpPr txBox="1"/>
          <p:nvPr/>
        </p:nvSpPr>
        <p:spPr>
          <a:xfrm>
            <a:off x="109330" y="2459116"/>
            <a:ext cx="4949687" cy="20428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Combined all key visuals into an interactive Power BI dashboard.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Added slicers and filters for easy data analysis.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Business Insight</a:t>
            </a:r>
            <a:r>
              <a:rPr lang="en-US" b="1" dirty="0">
                <a:solidFill>
                  <a:srgbClr val="FFFFFF"/>
                </a:solidFill>
              </a:rPr>
              <a:t>:</a:t>
            </a:r>
            <a:r>
              <a:rPr lang="en-US" dirty="0">
                <a:solidFill>
                  <a:srgbClr val="FFFFFF"/>
                </a:solidFill>
              </a:rPr>
              <a:t> Provides a complete view of sales, orders, and restaurant performance.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7FF87E-660F-BF07-B91C-26614288C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522" y="1401418"/>
            <a:ext cx="6112565" cy="435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923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6525A0-2879-1C19-1026-824DAA507D33}"/>
              </a:ext>
            </a:extLst>
          </p:cNvPr>
          <p:cNvSpPr txBox="1"/>
          <p:nvPr/>
        </p:nvSpPr>
        <p:spPr>
          <a:xfrm>
            <a:off x="6574809" y="150745"/>
            <a:ext cx="4156512" cy="1220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  <a:latin typeface="Algerian" panose="04020705040A02060702" pitchFamily="82" charset="0"/>
                <a:ea typeface="+mj-ea"/>
                <a:cs typeface="+mj-cs"/>
              </a:rPr>
              <a:t>Recommendation:</a:t>
            </a:r>
            <a:endParaRPr lang="en-US" sz="3200" dirty="0">
              <a:solidFill>
                <a:schemeClr val="accent3">
                  <a:lumMod val="75000"/>
                </a:schemeClr>
              </a:solidFill>
              <a:latin typeface="Algerian" panose="04020705040A02060702" pitchFamily="82" charset="0"/>
              <a:ea typeface="+mj-ea"/>
              <a:cs typeface="+mj-cs"/>
            </a:endParaRPr>
          </a:p>
        </p:txBody>
      </p:sp>
      <p:pic>
        <p:nvPicPr>
          <p:cNvPr id="6" name="Picture 5" descr="Stock numbers on a digital display">
            <a:extLst>
              <a:ext uri="{FF2B5EF4-FFF2-40B4-BE49-F238E27FC236}">
                <a16:creationId xmlns:a16="http://schemas.microsoft.com/office/drawing/2014/main" id="{76A2E52E-F552-EB9D-41A3-CABF24FD24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887" r="12334" b="-2"/>
          <a:stretch>
            <a:fillRect/>
          </a:stretch>
        </p:blipFill>
        <p:spPr>
          <a:xfrm>
            <a:off x="-1" y="-2"/>
            <a:ext cx="6096001" cy="68580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94327A-04FE-9465-1E7F-CB8B172D614E}"/>
              </a:ext>
            </a:extLst>
          </p:cNvPr>
          <p:cNvSpPr txBox="1"/>
          <p:nvPr/>
        </p:nvSpPr>
        <p:spPr>
          <a:xfrm>
            <a:off x="6251713" y="2009733"/>
            <a:ext cx="5164701" cy="30078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Focus marketing and promotions on </a:t>
            </a:r>
            <a:r>
              <a:rPr lang="en-US" b="1" dirty="0"/>
              <a:t>high-order cities and high-revenue areas</a:t>
            </a:r>
            <a:r>
              <a:rPr lang="en-US" dirty="0"/>
              <a:t>.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Support </a:t>
            </a:r>
            <a:r>
              <a:rPr lang="en-US" b="1" dirty="0"/>
              <a:t>top-performing restaurants</a:t>
            </a:r>
            <a:r>
              <a:rPr lang="en-US" dirty="0"/>
              <a:t> with more promotions and growth opportunities.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Improve performance in </a:t>
            </a:r>
            <a:r>
              <a:rPr lang="en-US" b="1" dirty="0"/>
              <a:t>low-order and low-revenue areas</a:t>
            </a:r>
            <a:r>
              <a:rPr lang="en-US" dirty="0"/>
              <a:t> through targeted offers.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Monitor </a:t>
            </a:r>
            <a:r>
              <a:rPr lang="en-US" b="1" dirty="0"/>
              <a:t>delivery time, ratings, revenue, and order trends</a:t>
            </a:r>
            <a:r>
              <a:rPr lang="en-US" dirty="0"/>
              <a:t> regularly.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Use the Power BI dashboard to make </a:t>
            </a:r>
            <a:r>
              <a:rPr lang="en-US" b="1" dirty="0"/>
              <a:t>data-driven business decisions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60743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6F1F2C8-798B-4CCE-A851-94AFAF350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CB8152-E328-BEE9-1F8F-CA1073D0509E}"/>
              </a:ext>
            </a:extLst>
          </p:cNvPr>
          <p:cNvSpPr txBox="1"/>
          <p:nvPr/>
        </p:nvSpPr>
        <p:spPr>
          <a:xfrm>
            <a:off x="970908" y="1220919"/>
            <a:ext cx="5425781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kern="1200" dirty="0">
                <a:solidFill>
                  <a:schemeClr val="accent3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THANK</a:t>
            </a:r>
            <a:r>
              <a:rPr lang="en-US" sz="6000" kern="1200" dirty="0">
                <a:solidFill>
                  <a:schemeClr val="accent3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000" b="1" kern="1200" dirty="0">
                <a:solidFill>
                  <a:schemeClr val="accent3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YOU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Block Arc 23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02394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252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541</Words>
  <Application>Microsoft Office PowerPoint</Application>
  <PresentationFormat>Widescreen</PresentationFormat>
  <Paragraphs>65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Algerian</vt:lpstr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Pavendan Ganesan</dc:creator>
  <cp:lastModifiedBy>Pavendan Ganesan</cp:lastModifiedBy>
  <cp:revision>2</cp:revision>
  <dcterms:created xsi:type="dcterms:W3CDTF">2026-10-03T15:17:12Z</dcterms:created>
  <dcterms:modified xsi:type="dcterms:W3CDTF">2026-10-04T11:37:05Z</dcterms:modified>
</cp:coreProperties>
</file>